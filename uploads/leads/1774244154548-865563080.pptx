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5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64" r:id="rId10"/>
    <p:sldId id="265" r:id="rId11"/>
    <p:sldId id="266" r:id="rId1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792">
          <p15:clr>
            <a:srgbClr val="A4A3A4"/>
          </p15:clr>
        </p15:guide>
        <p15:guide id="2" pos="192">
          <p15:clr>
            <a:srgbClr val="A4A3A4"/>
          </p15:clr>
        </p15:guide>
        <p15:guide id="3" orient="horz" pos="1080">
          <p15:clr>
            <a:srgbClr val="A4A3A4"/>
          </p15:clr>
        </p15:guide>
      </p15:sldGuideLst>
    </p:ext>
    <p:ext uri="http://customooxmlschemas.google.com/">
      <go:slidesCustomData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go="http://customooxmlschemas.google.com/" xmlns="" r:id="rId220" roundtripDataSignature="AMtx7miWNY2LB4ETJwrL8F0N+EK9hEhqU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55B4246-FED4-D9C7-888F-92921C354251}" v="25" dt="2025-03-17T10:22:09.07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>
        <p:guide orient="horz" pos="792"/>
        <p:guide pos="192"/>
        <p:guide orient="horz" pos="10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22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22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20" Type="http://customschemas.google.com/relationships/presentationmetadata" Target="metadata"/><Relationship Id="rId225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22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23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7727EF-6F93-4B0D-B708-414580DF18CC}" type="datetimeFigureOut">
              <a:rPr lang="en-IN" smtClean="0"/>
              <a:t>04-05-2025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2C4EBF-9298-493F-B06E-B42DCD0EF4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13241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Abstract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Problem Statement (Clearly define the challenge)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Objective (State your project's goal)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Background and Research (Discuss existing solutions, trends, and gaps)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Data Collection and Preparation (Focus on data sources, cleaning, and augmentation)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Proposed Solution (Methodology)</a:t>
            </a:r>
          </a:p>
          <a:p>
            <a:pPr lvl="7"/>
            <a:r>
              <a:rPr lang="en-IN" dirty="0"/>
              <a:t>	Model Architecture (e.g., CNN, U-Net, YOLOv5)</a:t>
            </a:r>
          </a:p>
          <a:p>
            <a:pPr lvl="7"/>
            <a:r>
              <a:rPr lang="en-IN" dirty="0"/>
              <a:t>	Key Techniques (e.g., Transfer Learning, Image Augmentation)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Model Performance Evaluation</a:t>
            </a:r>
          </a:p>
          <a:p>
            <a:r>
              <a:rPr lang="en-IN" dirty="0"/>
              <a:t>	Metrics (Accuracy, Precision, Recall, </a:t>
            </a:r>
            <a:r>
              <a:rPr lang="en-IN" dirty="0" err="1"/>
              <a:t>IoU</a:t>
            </a:r>
            <a:r>
              <a:rPr lang="en-IN" dirty="0"/>
              <a:t>, etc.)</a:t>
            </a:r>
          </a:p>
          <a:p>
            <a:r>
              <a:rPr lang="en-IN" dirty="0"/>
              <a:t>	Graphs (Confusion Matrix, ROC Curve, etc.)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Screenshots / Demonstration (Visual proof of system functionality)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Future Scope (Improvements, scalability, and integration ideas)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Conclusion (Summarize results and impact)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Q&amp;A Session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2C4EBF-9298-493F-B06E-B42DCD0EF472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71538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3413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78783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 and 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18775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8266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10;p4" descr="A close up of a sign&#10;&#10;Description automatically generated">
            <a:extLst>
              <a:ext uri="{FF2B5EF4-FFF2-40B4-BE49-F238E27FC236}">
                <a16:creationId xmlns:a16="http://schemas.microsoft.com/office/drawing/2014/main" id="{CE849A3B-BCF0-B774-F89E-81965C71F93E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072688" y="78002"/>
            <a:ext cx="1800225" cy="575514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E153E6A6-60E4-FE14-1CBC-8CC211274D1C}"/>
              </a:ext>
            </a:extLst>
          </p:cNvPr>
          <p:cNvSpPr/>
          <p:nvPr/>
        </p:nvSpPr>
        <p:spPr>
          <a:xfrm>
            <a:off x="1" y="0"/>
            <a:ext cx="9829800" cy="717630"/>
          </a:xfrm>
          <a:prstGeom prst="rect">
            <a:avLst/>
          </a:prstGeom>
          <a:solidFill>
            <a:srgbClr val="213264"/>
          </a:solidFill>
          <a:ln>
            <a:solidFill>
              <a:srgbClr val="2132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C7CE881-772B-9023-3054-4B219B75D755}"/>
              </a:ext>
            </a:extLst>
          </p:cNvPr>
          <p:cNvSpPr/>
          <p:nvPr/>
        </p:nvSpPr>
        <p:spPr>
          <a:xfrm>
            <a:off x="9888967" y="-419"/>
            <a:ext cx="112283" cy="732357"/>
          </a:xfrm>
          <a:prstGeom prst="rect">
            <a:avLst/>
          </a:prstGeom>
          <a:solidFill>
            <a:srgbClr val="7FBA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1" name="Picture 30" descr="A blue and white background&#10;&#10;Description automatically generated with medium confidence">
            <a:extLst>
              <a:ext uri="{FF2B5EF4-FFF2-40B4-BE49-F238E27FC236}">
                <a16:creationId xmlns:a16="http://schemas.microsoft.com/office/drawing/2014/main" id="{16A7B69A-9B14-87FE-841D-37F0A91D141D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alphaModFix amt="16000"/>
          </a:blip>
          <a:srcRect t="24724" r="1619" b="63695"/>
          <a:stretch/>
        </p:blipFill>
        <p:spPr>
          <a:xfrm>
            <a:off x="0" y="-1"/>
            <a:ext cx="9839325" cy="723901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7B91A16-5D54-2FC0-B0FD-A78085FC1313}"/>
              </a:ext>
            </a:extLst>
          </p:cNvPr>
          <p:cNvSpPr/>
          <p:nvPr/>
        </p:nvSpPr>
        <p:spPr>
          <a:xfrm>
            <a:off x="11925300" y="-419"/>
            <a:ext cx="266700" cy="732357"/>
          </a:xfrm>
          <a:prstGeom prst="rect">
            <a:avLst/>
          </a:prstGeom>
          <a:solidFill>
            <a:srgbClr val="FED5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7" r:id="rId1"/>
    <p:sldLayoutId id="2147483701" r:id="rId2"/>
    <p:sldLayoutId id="2147483714" r:id="rId3"/>
    <p:sldLayoutId id="2147483727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erson sitting at a desk with a computer&#10;&#10;Description automatically generated">
            <a:extLst>
              <a:ext uri="{FF2B5EF4-FFF2-40B4-BE49-F238E27FC236}">
                <a16:creationId xmlns:a16="http://schemas.microsoft.com/office/drawing/2014/main" id="{07B8740D-C76F-46FC-AEFB-23FB0614DB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1857762-AD52-483C-B3E1-635C5BBC6F2F}"/>
              </a:ext>
            </a:extLst>
          </p:cNvPr>
          <p:cNvSpPr/>
          <p:nvPr/>
        </p:nvSpPr>
        <p:spPr>
          <a:xfrm>
            <a:off x="5873750" y="584200"/>
            <a:ext cx="4673600" cy="977900"/>
          </a:xfrm>
          <a:prstGeom prst="roundRect">
            <a:avLst/>
          </a:prstGeom>
          <a:solidFill>
            <a:srgbClr val="EBEEF9"/>
          </a:solidFill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067E9C-C7B9-4476-9708-CBB3F66FD892}"/>
              </a:ext>
            </a:extLst>
          </p:cNvPr>
          <p:cNvSpPr txBox="1"/>
          <p:nvPr/>
        </p:nvSpPr>
        <p:spPr>
          <a:xfrm>
            <a:off x="3964774" y="3340509"/>
            <a:ext cx="71850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Carbon Footprint Calculator</a:t>
            </a:r>
            <a:endParaRPr lang="en-US" sz="4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 descr="A close up of a logo&#10;&#10;Description automatically generated">
            <a:extLst>
              <a:ext uri="{FF2B5EF4-FFF2-40B4-BE49-F238E27FC236}">
                <a16:creationId xmlns:a16="http://schemas.microsoft.com/office/drawing/2014/main" id="{BD3530AF-9771-470E-A9BF-F28AA227533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7419" y="868863"/>
            <a:ext cx="1263157" cy="410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1276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094E319-C77C-49E2-964C-6E125D716194}"/>
              </a:ext>
            </a:extLst>
          </p:cNvPr>
          <p:cNvSpPr txBox="1"/>
          <p:nvPr/>
        </p:nvSpPr>
        <p:spPr>
          <a:xfrm>
            <a:off x="290233" y="1080134"/>
            <a:ext cx="2652889" cy="58477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IN" sz="3200" b="1" dirty="0">
                <a:solidFill>
                  <a:srgbClr val="2131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Content</a:t>
            </a:r>
            <a:r>
              <a:rPr lang="en-IN" sz="2000" b="1" dirty="0">
                <a:solidFill>
                  <a:srgbClr val="213163"/>
                </a:solidFill>
              </a:rPr>
              <a:t> </a:t>
            </a:r>
            <a:endParaRPr lang="en-IN" sz="2000" dirty="0">
              <a:solidFill>
                <a:srgbClr val="213163"/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A22F707-7F22-48A3-97EC-98EFB1023A55}"/>
              </a:ext>
            </a:extLst>
          </p:cNvPr>
          <p:cNvCxnSpPr/>
          <p:nvPr/>
        </p:nvCxnSpPr>
        <p:spPr>
          <a:xfrm>
            <a:off x="0" y="6055360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A88ECAE3-73C5-E88D-2F41-7720B2D25594}"/>
              </a:ext>
            </a:extLst>
          </p:cNvPr>
          <p:cNvSpPr txBox="1"/>
          <p:nvPr/>
        </p:nvSpPr>
        <p:spPr>
          <a:xfrm>
            <a:off x="1221131" y="1608621"/>
            <a:ext cx="9328280" cy="4191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 and Preparation 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 (Methodology)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Performance Evaluation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Screenshots / Demonstration (video)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 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</a:t>
            </a:r>
          </a:p>
        </p:txBody>
      </p:sp>
    </p:spTree>
    <p:extLst>
      <p:ext uri="{BB962C8B-B14F-4D97-AF65-F5344CB8AC3E}">
        <p14:creationId xmlns:p14="http://schemas.microsoft.com/office/powerpoint/2010/main" val="29320524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61D872-7EC7-439F-A588-B1D90CB7A92F}"/>
              </a:ext>
            </a:extLst>
          </p:cNvPr>
          <p:cNvSpPr txBox="1"/>
          <p:nvPr/>
        </p:nvSpPr>
        <p:spPr>
          <a:xfrm>
            <a:off x="411138" y="1116825"/>
            <a:ext cx="61026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213163"/>
                </a:solidFill>
              </a:rPr>
              <a:t>Abstract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36739E-D56A-6E95-2438-8980060F482A}"/>
              </a:ext>
            </a:extLst>
          </p:cNvPr>
          <p:cNvSpPr txBox="1"/>
          <p:nvPr/>
        </p:nvSpPr>
        <p:spPr>
          <a:xfrm>
            <a:off x="747252" y="2143432"/>
            <a:ext cx="8394290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Carbon Footprint Calculator is a web-based application designed to estimate an individual's carbon emissions based on their daily activities. Utilizing a machine learning model trained on the 'Carbon Emission.csv' dataset, the application provides users with insights into their carbon footprint, promoting awareness and encouraging sustainable practices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45712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61D872-7EC7-439F-A588-B1D90CB7A92F}"/>
              </a:ext>
            </a:extLst>
          </p:cNvPr>
          <p:cNvSpPr txBox="1"/>
          <p:nvPr/>
        </p:nvSpPr>
        <p:spPr>
          <a:xfrm>
            <a:off x="406008" y="1116144"/>
            <a:ext cx="61026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2131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</a:t>
            </a:r>
            <a:endParaRPr lang="en-IN" sz="3600" dirty="0">
              <a:solidFill>
                <a:srgbClr val="21316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7F2F1B4-87F2-B9E9-332F-4FDD166E7F12}"/>
              </a:ext>
            </a:extLst>
          </p:cNvPr>
          <p:cNvSpPr txBox="1"/>
          <p:nvPr/>
        </p:nvSpPr>
        <p:spPr>
          <a:xfrm>
            <a:off x="865239" y="2202426"/>
            <a:ext cx="8276303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increasing concerns about climate change, there's a pressing need for tools that help individuals understand and reduce their carbon emissions. Existing tools are often too complex or not user-friendly. This project provides an intuitive platform to calculate and comprehend carbon footprints.</a:t>
            </a:r>
          </a:p>
        </p:txBody>
      </p:sp>
    </p:spTree>
    <p:extLst>
      <p:ext uri="{BB962C8B-B14F-4D97-AF65-F5344CB8AC3E}">
        <p14:creationId xmlns:p14="http://schemas.microsoft.com/office/powerpoint/2010/main" val="27067900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61D872-7EC7-439F-A588-B1D90CB7A92F}"/>
              </a:ext>
            </a:extLst>
          </p:cNvPr>
          <p:cNvSpPr txBox="1"/>
          <p:nvPr/>
        </p:nvSpPr>
        <p:spPr>
          <a:xfrm>
            <a:off x="255104" y="1054412"/>
            <a:ext cx="610262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rgbClr val="2131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 </a:t>
            </a:r>
            <a:endParaRPr lang="en-IN" sz="4000" b="1" dirty="0">
              <a:solidFill>
                <a:srgbClr val="21316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7CB5BE-C94E-2670-507E-BBC1F17CB00B}"/>
              </a:ext>
            </a:extLst>
          </p:cNvPr>
          <p:cNvSpPr txBox="1"/>
          <p:nvPr/>
        </p:nvSpPr>
        <p:spPr>
          <a:xfrm>
            <a:off x="1032387" y="2428568"/>
            <a:ext cx="890802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Develop a user-friendly web application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Implement a machine learning model to predict emissions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Promote environmental awareness and sustainable choices</a:t>
            </a:r>
          </a:p>
        </p:txBody>
      </p:sp>
    </p:spTree>
    <p:extLst>
      <p:ext uri="{BB962C8B-B14F-4D97-AF65-F5344CB8AC3E}">
        <p14:creationId xmlns:p14="http://schemas.microsoft.com/office/powerpoint/2010/main" val="319659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61D872-7EC7-439F-A588-B1D90CB7A92F}"/>
              </a:ext>
            </a:extLst>
          </p:cNvPr>
          <p:cNvSpPr txBox="1"/>
          <p:nvPr/>
        </p:nvSpPr>
        <p:spPr>
          <a:xfrm>
            <a:off x="255104" y="1054412"/>
            <a:ext cx="610262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2131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 and Preparation </a:t>
            </a:r>
            <a:endParaRPr lang="en-IN" sz="3200" b="1" dirty="0">
              <a:solidFill>
                <a:srgbClr val="21316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E59AB6-E4B2-9337-FB8C-80D1EFE79750}"/>
              </a:ext>
            </a:extLst>
          </p:cNvPr>
          <p:cNvSpPr txBox="1"/>
          <p:nvPr/>
        </p:nvSpPr>
        <p:spPr>
          <a:xfrm>
            <a:off x="1730478" y="2635044"/>
            <a:ext cx="7352071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Dataset: 'Carbon Emission.csv'</a:t>
            </a:r>
          </a:p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Preprocessing: handle missing values, encode categorical variables, normalize features</a:t>
            </a:r>
          </a:p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Tools: Pandas, NumPy, Scikit-learn</a:t>
            </a:r>
          </a:p>
        </p:txBody>
      </p:sp>
    </p:spTree>
    <p:extLst>
      <p:ext uri="{BB962C8B-B14F-4D97-AF65-F5344CB8AC3E}">
        <p14:creationId xmlns:p14="http://schemas.microsoft.com/office/powerpoint/2010/main" val="30029688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61D872-7EC7-439F-A588-B1D90CB7A92F}"/>
              </a:ext>
            </a:extLst>
          </p:cNvPr>
          <p:cNvSpPr txBox="1"/>
          <p:nvPr/>
        </p:nvSpPr>
        <p:spPr>
          <a:xfrm>
            <a:off x="255104" y="1054412"/>
            <a:ext cx="610262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2131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 (Methodology)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AF257D-FD33-01F3-45B0-B67F508E38A1}"/>
              </a:ext>
            </a:extLst>
          </p:cNvPr>
          <p:cNvSpPr txBox="1"/>
          <p:nvPr/>
        </p:nvSpPr>
        <p:spPr>
          <a:xfrm>
            <a:off x="1700980" y="2387268"/>
            <a:ext cx="7263581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Frontend: HTML, CSS, JavaScript</a:t>
            </a:r>
          </a:p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Backend: Python Flask</a:t>
            </a:r>
          </a:p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ML Model: Regression-based prediction</a:t>
            </a:r>
          </a:p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Workflow: User input → API → Model → Output</a:t>
            </a:r>
          </a:p>
        </p:txBody>
      </p:sp>
    </p:spTree>
    <p:extLst>
      <p:ext uri="{BB962C8B-B14F-4D97-AF65-F5344CB8AC3E}">
        <p14:creationId xmlns:p14="http://schemas.microsoft.com/office/powerpoint/2010/main" val="16359494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61D872-7EC7-439F-A588-B1D90CB7A92F}"/>
              </a:ext>
            </a:extLst>
          </p:cNvPr>
          <p:cNvSpPr txBox="1"/>
          <p:nvPr/>
        </p:nvSpPr>
        <p:spPr>
          <a:xfrm>
            <a:off x="149087" y="988151"/>
            <a:ext cx="610262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2131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Performance Evaluation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98182F-6E53-1B48-4B5A-64418589566F}"/>
              </a:ext>
            </a:extLst>
          </p:cNvPr>
          <p:cNvSpPr txBox="1"/>
          <p:nvPr/>
        </p:nvSpPr>
        <p:spPr>
          <a:xfrm>
            <a:off x="1779639" y="2428568"/>
            <a:ext cx="7361903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Metrics: MAE, RMSE, R²</a:t>
            </a:r>
          </a:p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R² score: 0.85 (high accuracy)</a:t>
            </a:r>
          </a:p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MAE and RMSE within acceptable range</a:t>
            </a:r>
          </a:p>
        </p:txBody>
      </p:sp>
    </p:spTree>
    <p:extLst>
      <p:ext uri="{BB962C8B-B14F-4D97-AF65-F5344CB8AC3E}">
        <p14:creationId xmlns:p14="http://schemas.microsoft.com/office/powerpoint/2010/main" val="1519883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258FF0-4D3E-555E-E17C-63DCDCBA4A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497EE16-4F61-F6F6-6872-0A90CEF96738}"/>
              </a:ext>
            </a:extLst>
          </p:cNvPr>
          <p:cNvSpPr txBox="1"/>
          <p:nvPr/>
        </p:nvSpPr>
        <p:spPr>
          <a:xfrm>
            <a:off x="149087" y="988151"/>
            <a:ext cx="610262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2131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Screenshots / Demonstration (video) </a:t>
            </a:r>
          </a:p>
        </p:txBody>
      </p:sp>
    </p:spTree>
    <p:extLst>
      <p:ext uri="{BB962C8B-B14F-4D97-AF65-F5344CB8AC3E}">
        <p14:creationId xmlns:p14="http://schemas.microsoft.com/office/powerpoint/2010/main" val="1578032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4329E4-03A5-0DDF-9696-0D2069FC75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3E6360E-CC40-2C6F-1D15-2DACD1614358}"/>
              </a:ext>
            </a:extLst>
          </p:cNvPr>
          <p:cNvSpPr txBox="1"/>
          <p:nvPr/>
        </p:nvSpPr>
        <p:spPr>
          <a:xfrm>
            <a:off x="149087" y="988151"/>
            <a:ext cx="61026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2131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Scope 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D0B0C3DB-5F8A-ACB5-21DA-A00088058847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946787" y="2020620"/>
            <a:ext cx="7787148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Integrate more comprehensive datasets to enhance model accuracy.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Develop a mobile application version for wider accessibility.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Incorporate gamification elements to motivate users to reduce their carbon footprint.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Collaborate with environmental organizations for real-world impact.</a:t>
            </a:r>
          </a:p>
        </p:txBody>
      </p:sp>
    </p:spTree>
    <p:extLst>
      <p:ext uri="{BB962C8B-B14F-4D97-AF65-F5344CB8AC3E}">
        <p14:creationId xmlns:p14="http://schemas.microsoft.com/office/powerpoint/2010/main" val="24728356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33EE44-9E93-2B6C-F7BD-60DC3197A7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09D8AD9-046D-E1A1-DBB9-C2E463E2E067}"/>
              </a:ext>
            </a:extLst>
          </p:cNvPr>
          <p:cNvSpPr txBox="1"/>
          <p:nvPr/>
        </p:nvSpPr>
        <p:spPr>
          <a:xfrm>
            <a:off x="237577" y="1184796"/>
            <a:ext cx="610262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rgbClr val="2131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r>
              <a:rPr lang="en-US" sz="2000" b="1" dirty="0">
                <a:solidFill>
                  <a:srgbClr val="213163"/>
                </a:solidFill>
              </a:rPr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15E4DB-9205-DD20-F529-508554F603B2}"/>
              </a:ext>
            </a:extLst>
          </p:cNvPr>
          <p:cNvSpPr txBox="1"/>
          <p:nvPr/>
        </p:nvSpPr>
        <p:spPr>
          <a:xfrm>
            <a:off x="855406" y="2595716"/>
            <a:ext cx="828613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bridges the gap between complex carbon data and user understanding. It empowers individuals to make informed, sustainable decisions using an accessible, ML-powered platform.</a:t>
            </a:r>
          </a:p>
        </p:txBody>
      </p:sp>
    </p:spTree>
    <p:extLst>
      <p:ext uri="{BB962C8B-B14F-4D97-AF65-F5344CB8AC3E}">
        <p14:creationId xmlns:p14="http://schemas.microsoft.com/office/powerpoint/2010/main" val="3998958607"/>
      </p:ext>
    </p:extLst>
  </p:cSld>
  <p:clrMapOvr>
    <a:masterClrMapping/>
  </p:clrMapOvr>
</p:sld>
</file>

<file path=ppt/theme/theme1.xml><?xml version="1.0" encoding="utf-8"?>
<a:theme xmlns:a="http://schemas.openxmlformats.org/drawingml/2006/main" name="Session 01 Design Thinking &amp; Critical Thinking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ession 01 Design Thinking &amp; Critical Thinking" id="{1DE73F69-F87A-4ED3-81C1-82D2BA622E0C}" vid="{37568650-F724-47C7-905E-9640F801749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Session 01 Design Thinking &amp; Critical Thinking</Template>
  <TotalTime>36</TotalTime>
  <Words>462</Words>
  <Application>Microsoft Office PowerPoint</Application>
  <PresentationFormat>Widescreen</PresentationFormat>
  <Paragraphs>56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Times New Roman</vt:lpstr>
      <vt:lpstr>Session 01 Design Thinking &amp; Critical Thinking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Mahesh Kurhe</dc:creator>
  <cp:lastModifiedBy>Jeevika Gangadharan</cp:lastModifiedBy>
  <cp:revision>14</cp:revision>
  <dcterms:created xsi:type="dcterms:W3CDTF">2024-12-31T09:40:01Z</dcterms:created>
  <dcterms:modified xsi:type="dcterms:W3CDTF">2025-05-04T05:10:39Z</dcterms:modified>
</cp:coreProperties>
</file>